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43A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FARMWISE AI CAMPUS PRODUCT CHALLENGE • TASK 1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FarmwiseAI Agentic Agriculture</a:t>
            </a:r>
            <a:br/>
            <a:r>
              <a:t>Intelligence Platform</a:t>
            </a:r>
          </a:p>
          <a:p>
            <a:pPr>
              <a:spcAft>
                <a:spcPts val="2800"/>
              </a:spcAft>
              <a:defRPr sz="1500">
                <a:solidFill>
                  <a:srgbClr val="A7F3D0"/>
                </a:solidFill>
              </a:defRPr>
            </a:pPr>
            <a:r>
              <a:t>Multi-Model, Multimodal and Agentic AI Architecture for Verified Parcel-Level Crop Advisory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TEAM ID: FAI-TCE-Team06   |   AWS REGION: ap-south-1 (Mumbai)   |   TARGET: Farmers &amp; Agri-Officers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1. Introduction &amp; Agricultural Dilemma in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64E3B"/>
                </a:solidFill>
              </a:defRPr>
            </a:pPr>
            <a:r>
              <a:t>The Smallholder Reality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Over 82% of Indian farmers are smallholders operating &lt;2 hectare plots.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High diversity in soil, crop stages, and micro-climates across adjacent parcels.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Heavy dependence on high-risk inputs (fertilizers, pesticides) without localized guidance.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Literacy &amp; linguistic barriers: rural farmers prefer voice &amp; Tamil over text in English.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508760"/>
            <a:ext cx="333756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691639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64E3B"/>
                </a:solidFill>
              </a:defRPr>
            </a:pPr>
            <a:r>
              <a:t>The Failure of Traditional Advisory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Broad-Brush Advisories: Existing systems deliver generic district-level advice (e.g., 'Apply Urea in Tenkasi').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No Spatial Resolution: Cannot identify parcel boundaries or specific Survey Numbers.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Zero Verification: Unchecked AI models hallucinate fertilizer dosages, causing chemical toxicity &amp; financial ruin.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Fragmented Systems: Land records, weather, and market rates live in disconnected silos.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508760"/>
            <a:ext cx="333756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691639"/>
            <a:ext cx="2971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64E3B"/>
                </a:solidFill>
              </a:defRPr>
            </a:pPr>
            <a:r>
              <a:t>The FarmwiseAI Breakthrough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Hyper-Local Parcel Intelligence: Resolves exact Patta/FMB cadastral boundaries for 14,643 survey numbers.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Multimodal Vision: Computer vision identifies exact crop phenology &amp; health from field photos.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Bilingual &amp; Voice-First: Farmers talk in colloquial Tamil; system speaks and transcribes in real-time.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• Hallucination Firewall: Adversarial Verifier Critic agent audits every recommendation before display.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2. Project Mission &amp; Core Technical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1. Multi-Agent Orchestration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Design an autonomous, cyclic state-machine pipeline (LangGraph) that coordinates specialized agents (Geo, Vision, Weather, Knowledge, Verifier) without central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459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2. Multimodal Computer Vision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Integrate Gemini 3.8 Flash Vision to phenotype crop species, growth stage (tillering, flowering), canopy vigor, and stress directly from field photographs with calibrated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3. Parcel-Level Cadastral Grounding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Map exact Survey Numbers to official revenue village cadastral boundaries (GeoJSON) and FMB polygons across 14,643 ground-truth surveyed locations in Tamil Nadu.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1089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2461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4. Hallucination-Safe Verification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Implement a dual-model adversarial Verifier Critic agent (Claude 3.5 Sonnet) that rigorously cross-checks recommendations against land records, growth stage, and micro-climate.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5. Native Tamil Voice-First Access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Enable low-literacy rural farmers to interact seamlessly using Groq Whisper speech-to-text (~320ms latency) and automated Tamil agricultural term normalization.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7091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6. Enterprise Government Reporting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Generate structured, tamper-verifiable PDF audit reports compliant with PM-FASAL BIMA Yojna crop insurance guidelines featuring cryptographic verification QR codes.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3. Paradigm Shift: Traditional Advisory vs. FarmWise AI Parcel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327855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Evaluation Dimension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Traditional Agricultural Advisory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FarmWise AI Parcel Intelligence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</a:rPr>
                        <a:t>Geographic Granularity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Broad district or state level (covers 1,000+ sq km). Misses local micro-climates.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Exact Survey Parcel level (sub-acre accuracy). Resolves Patta / FMB boundaries.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</a:rPr>
                        <a:t>Input Modalities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Manual text input or pre-selected drop-down menus only.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Multimodal: Voice (Tamil/English), Field Photos, Survey No, and Documents.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</a:rPr>
                        <a:t>Crop Phenology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Farmer guesses and selects crop stage manually from a drop-down.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Gemini 3.8 Flash Computer Vision autonomously detects stage (e.g. tillering) from photo.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</a:rPr>
                        <a:t>Weather &amp; Spray Window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Static 24-hour regional temperature and rain percentage.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Hyper-local Open-Meteo micro-climate computing exact safe spraying windows in km/h.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</a:rPr>
                        <a:t>AI Safety &amp;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Single prompt LLM prone to dangerous dosage hallucinations.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Adversarial Verifier Critic (Claude 3.5 Sonnet) audits advice before display.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</a:rPr>
                        <a:t>Auditability &amp; Traceability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Black-box chatbot response with zero decision evidence.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</a:rPr>
                        <a:t>Transparent Decision Trace Modal exposing agent execution steps &amp; verification score.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4. Autonomous 8-Step Multi-Agent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1: Ingestion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Farmer enters Survey # (e.g. 1342), takes field photo, or speaks query.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55448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691639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2: Voice LPU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Groq Whisper transcribes Tamil speech in ~320ms; normalizes numerals.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5448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691639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3: Geo Agent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Resolves Patta record across 14,643 rows; loads Cadastral GeoJSON polygon.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55448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0848" y="1691639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4: Vision Agent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Gemini 3.8 Flash analyzes canopy, growth stage, and health with confidence.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4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14800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5: Weather Agent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Queries Open-Meteo for parcel lat/lon; computes safe spray window.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397764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4114800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6: Knowledge Agent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Retrieves TNAU/ICAR agronomic schedules &amp; live APMC Mandi commodity rates.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97764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4114800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7: Verifier Critic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Claude 3.5 Sonnet cross-checks land records, crop stage, and weather consistency.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3977640"/>
            <a:ext cx="2514600" cy="22402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0848" y="4114800"/>
            <a:ext cx="2240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64E3B"/>
                </a:solidFill>
              </a:defRPr>
            </a:pPr>
            <a:r>
              <a:t>Step 8: Synthesis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Produces executive advisory, translates to colloquial Tamil, and prints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5. System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64E3B"/>
                </a:solidFill>
              </a:defRPr>
            </a:pPr>
            <a:r>
              <a:t>Frontend Application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React 19 + Vite 6: Instant HMR, tiny 380KB bundle.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Tailwind CSS v4: High-contrast mobile-friendly UI.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React-Leaflet + OSM: Vector polygon boundary rendering.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Lucide React: Intuitive agricultural icons.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Custom Tamil Engine: Curated agricultural dictionary.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508760"/>
            <a:ext cx="333756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64E3B"/>
                </a:solidFill>
              </a:defRPr>
            </a:pPr>
            <a:r>
              <a:t>Backend Services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FastAPI + Uvicorn: High-performance async REST API.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Python 3.12: Native modern language runtime.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Pydantic v2: Strict data schema contract validation.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Turf.js / GeoJSON: In-memory spatial point-in-polygon.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AWS SDK (Boto3): S3 private archival in ap-south-1.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1508760"/>
            <a:ext cx="3337560" cy="457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691640"/>
            <a:ext cx="2971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64E3B"/>
                </a:solidFill>
              </a:defRPr>
            </a:pPr>
            <a:r>
              <a:t>Agentic AI Core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LangGraph: Cyclic state graph orchestration.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Model Router: Intelligent cost/latency model dispatch.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Verifier Critic: Claude 3.5 Sonnet adversarial audit.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Multimodal Vision: Google Gemini 3.8 Flash.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</a:defRPr>
            </a:pPr>
            <a:r>
              <a:t>• Groq Whisper: Ultra-fast speech recognition LPU.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6. Task 1 Compliance Matrix: Farmwise AI Challenge Rubric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4389120"/>
                <a:gridCol w="1218895"/>
              </a:tblGrid>
              <a:tr h="49784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</a:rPr>
                        <a:t>Challenge Requirement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</a:rPr>
                        <a:t>Rubric Evaluation Criteria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</a:rPr>
                        <a:t>FarmWise AI Technical Implementation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1.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Autonomous decomposition of queries into logical sub-tasks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LangGraph Planner Agent generates structured DAG execution plans.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2. Multimodal Input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Handles field images, survey nos, text, and voice queries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Gemini 3.8 Flash Vision + Groq Whisper + Cadastral GeoJSON input.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3. Multi-Agent Orchestration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Independent agents with specialized domain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Coordinated Geo, Image, Weather, Knowledge, and Verifier Agents.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4. Model Routing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Justified proprietary vs open-weight model usage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Groq Whisper (fast edge) + Gemini (vision) + Claude (deep critique).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5. Tool Calling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Integration with real APIs and external calculators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Open-Meteo API, Turf.js spatial calculation, AWS S3 image upload.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6. Shared State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Threaded contextual state passing across steps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Unified FarmwiseState schema tracking execution artifacts across graph.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7. Verification &amp; Critic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Adversarial auditing to intercept hallucinations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Claude 3.5 Sonnet Verifier checks consistency; outputs audit score.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8. Fallback Resilience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Graceful handling of API rate limits or network drop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4155"/>
                          </a:solidFill>
                        </a:rPr>
                        <a:t>Web Speech API fallback for voice; Bedrock Titan image fallback.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4E3B"/>
                          </a:solidFill>
                        </a:rPr>
                        <a:t>✓ Verified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7. AWS Integration &amp; Event Account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19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Strict Regional Lock: ap-south-1 (Mumbai)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All cloud infrastructure is strictly confined to AWS Mumbai (ap-south-1) as mandated by contest rules.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Zero cross-region calls or unapproved service invocations.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Ensures low latency compliance for Indian data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Allowed Services Enforcement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S3: Dedicated bucket 'fai-tce-team06-crop-intel' for secure private field photo backup.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Bedrock: Titan Multimodal Embeddings &amp; Ministral-8B models utilized for offline vector similarity.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IAM Compliance: Utilized pre-existing 'FAI-TCE-LambdaExecutionRole' with zero unauthorized role creations.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463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Budget Conservation &amp; Safety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Strictly operated within the $100 team budget allocation.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In-memory caching of cadastral polygons avoids expensive database compute hours.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</a:defRPr>
            </a:pPr>
            <a:r>
              <a:t>• Zero usage of expensive unapproved services (OpenSearch, RDS, EC2, Rekognition).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8. Cost Estimation, Model Economics &amp; Budget Sustainability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468880"/>
                <a:gridCol w="2011680"/>
                <a:gridCol w="1676095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</a:rPr>
                        <a:t>Pipeline Component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</a:rPr>
                        <a:t>Engine / Model Used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</a:rPr>
                        <a:t>Tokens / Unit per Query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</a:rPr>
                        <a:t>Unit Rate ($)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FFFFFF"/>
                          </a:solidFill>
                        </a:rPr>
                        <a:t>Cost per Advisory Run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Multimodal Crop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Gemini 3.8 Flash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258 image tokens + 450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$0.075 / 1M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Adversarial Verifier Critic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Claude 3.5 Sonnet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850 input + 320 output tokens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$3.00/1M in, $15.00/1M out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$0.00280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Tamil Voice Transcription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Groq Whisper Large 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4.2 seconds audio blob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$0.040 / audio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$0.00004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Tamil Advisory Translation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Gemini 3.1 Flash Lite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380 input + 240 output tokens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$0.0375 / 1M tokens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$0.00003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Micro-Climate &amp; Spray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Open-Meteo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1 WMO Agro-Met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Free Public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F172A"/>
                          </a:solidFill>
                        </a:rPr>
                        <a:t>Field Photograph Archival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AWS S3 ap-south-1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1 PUT request (~1.2 MB JPG)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$0.005 / 1,000 PUTs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</a:rPr>
                        <a:t>$0.00001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4E3B"/>
                          </a:solidFill>
                        </a:rPr>
                        <a:t>TOTAL ESTIMATED COST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4E3B"/>
                          </a:solidFill>
                        </a:rPr>
                        <a:t>Full End-to-End Run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4E3B"/>
                          </a:solidFill>
                        </a:rPr>
                        <a:t>Complete 8-Step Multi-Agent Execution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4E3B"/>
                          </a:solidFill>
                        </a:rPr>
                        <a:t>Sub-Penny Economics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64E3B"/>
                          </a:solidFill>
                        </a:rPr>
                        <a:t>$0.00293 (~0.24 INR)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4E3B"/>
                </a:solidFill>
              </a:defRPr>
            </a:pPr>
            <a:r>
              <a:t>★ BUDGET VIABILITY: At ~0.24 INR per advisory, the $100 (approx. ₹8,300) event budget supports over 34,000 comprehensive farmer advisory runs!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9. Key Application Features Built for Farmers &amp; Officers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Interactive Cadastral Map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Vector polygon boundary overlay for 14,643 survey numbers, sub-division delineation, dynamic zoom controls, and centroid pins.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087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459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Multimodal Crop Phenotype Card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Computer vision diagnosis displaying detected crop, growth stage, canopy observations, confidence score, and high-res photo modal.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Micro-Climate Weather Card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Hyper-local temperature, humidity, wind velocity, and calculated agronomic safe spray windows to prevent pesticide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1089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2461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Advisory &amp; Verification Badge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Personalized chemical/organic fertilizer dosages, market selling recommendations, and a 96% AI Verified tamper badge.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AI Decision Trace Modal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Full chronological execution log exposing every agent's thought process, tools called, and verifier critique for total transparency.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709160"/>
            <a:ext cx="5212080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8463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64E3B"/>
                </a:solidFill>
              </a:defRPr>
            </a:pPr>
            <a:r>
              <a:t>Government-Format PDF Print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Clean, single-click printable audit document with Tamil Nadu Land Record breadcrumbs and PM-FASAL BIMA Yojna formatting.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10. Prototype Walkthrough: Parcel Intelligence &amp; Spatial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4E3B"/>
                </a:solidFill>
              </a:defRPr>
            </a:pPr>
            <a:r>
              <a:t>PROTOTYPE SCREENSHOT 1</a:t>
            </a:r>
            <a:br/>
            <a:r>
              <a:t>[ CADASTRAL PARCEL MAP &amp; SEARCH ]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Leaflet interactive map with authentic Sivagiri cadastral polygon.</a:t>
            </a:r>
            <a:br/>
            <a:r>
              <a:t>• Survey search with Tamil/English auto-completion.</a:t>
            </a:r>
            <a:br/>
            <a:r>
              <a:t>• Centroid pin: Lat 9.2463° N, Lon 77.3798° E.</a:t>
            </a:r>
            <a:br/>
            <a:r>
              <a:t>• Real-time map zoom &amp; recenter controls.</a:t>
            </a:r>
          </a:p>
          <a:p>
            <a:br/>
            <a:pPr algn="ctr">
              <a:defRPr sz="1100" b="1">
                <a:solidFill>
                  <a:srgbClr val="64748B"/>
                </a:solidFill>
              </a:defRPr>
            </a:pPr>
            <a:r>
              <a:t>[ INSERT SCREENSHOT OF HOMEPAGE &amp; PARCEL MAP HERE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82880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4E3B"/>
                </a:solidFill>
              </a:defRPr>
            </a:pPr>
            <a:r>
              <a:t>PROTOTYPE SCREENSHOT 2</a:t>
            </a:r>
            <a:br/>
            <a:r>
              <a:t>[ ADVISORY &amp; MICRO-CLIMATE DASHBOARD ]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AI Verified badge (96% confidence).</a:t>
            </a:r>
            <a:br/>
            <a:r>
              <a:t>• Hyper-local weather metrics with safe spray window.</a:t>
            </a:r>
            <a:br/>
            <a:r>
              <a:t>• Prioritized agricultural task checklist.</a:t>
            </a:r>
            <a:br/>
            <a:r>
              <a:t>• Tamil Nadu Land Records breadcrumb navigation.</a:t>
            </a:r>
          </a:p>
          <a:p>
            <a:br/>
            <a:pPr algn="ctr">
              <a:defRPr sz="1100" b="1">
                <a:solidFill>
                  <a:srgbClr val="64748B"/>
                </a:solidFill>
              </a:defRPr>
            </a:pPr>
            <a:r>
              <a:t>[ INSERT SCREENSHOT OF DASHBOARD &amp; ADVISORY CARDS HERE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11. Prototype Walkthrough: Multimodal Vision &amp; Decision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663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4E3B"/>
                </a:solidFill>
              </a:defRPr>
            </a:pPr>
            <a:r>
              <a:t>PROTOTYPE SCREENSHOT 3</a:t>
            </a:r>
            <a:br/>
            <a:r>
              <a:t>[ CROP PHENOTYPING &amp; FIELD PHOTO MODAL ]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Gemini 3.8 Flash multimodal computer vision analysis.</a:t>
            </a:r>
            <a:br/>
            <a:r>
              <a:t>• Detected crop: Paddy (Oryza sativa) at tillering stage.</a:t>
            </a:r>
            <a:br/>
            <a:r>
              <a:t>• Visual canopy canopy observations &amp; chlorophyll reflectance.</a:t>
            </a:r>
            <a:br/>
            <a:r>
              <a:t>• Click-to-enlarge modal with survey geotag reference.</a:t>
            </a:r>
          </a:p>
          <a:p>
            <a:br/>
            <a:pPr algn="ctr">
              <a:defRPr sz="1100" b="1">
                <a:solidFill>
                  <a:srgbClr val="64748B"/>
                </a:solidFill>
              </a:defRPr>
            </a:pPr>
            <a:r>
              <a:t>[ INSERT SCREENSHOT OF CROP CARD &amp; PHOTO MODAL HERE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54480"/>
            <a:ext cx="51663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82880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4E3B"/>
                </a:solidFill>
              </a:defRPr>
            </a:pPr>
            <a:r>
              <a:t>PROTOTYPE SCREENSHOT 4</a:t>
            </a:r>
            <a:br/>
            <a:r>
              <a:t>[ AI DECISION TRACE &amp; VERIFIER AUDIT ]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Complete chronological agent execution log.</a:t>
            </a:r>
            <a:br/>
            <a:r>
              <a:t>• Tool execution inputs &amp; raw outputs.</a:t>
            </a:r>
            <a:br/>
            <a:r>
              <a:t>• Claude 3.5 Sonnet Verifier Critic critique remarks.</a:t>
            </a:r>
            <a:br/>
            <a:r>
              <a:t>• Printable Government Audit PDF export ready.</a:t>
            </a:r>
          </a:p>
          <a:p>
            <a:br/>
            <a:pPr algn="ctr">
              <a:defRPr sz="1100" b="1">
                <a:solidFill>
                  <a:srgbClr val="64748B"/>
                </a:solidFill>
              </a:defRPr>
            </a:pPr>
            <a:r>
              <a:t>[ INSERT SCREENSHOT OF DECISION TRACE MODAL / PRINT VIEW HERE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12. Current System Limitations &amp; Boundary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1. Image Quality &amp; Lighting Variability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Poorly lit or blurry smartphone photos taken at dawn/dusk can reduce Gemini Vision's phenological stage detection accuracy below 70%.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2. Cloud Cover on Optical Satellite Tiles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During intense monsoon periods in Tamil Nadu, underlying OpenStreetMap satellite raster tiles may experience intermittent cloud obscuration.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3. Sub-Division Revenue Lag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Informal partition of survey parcels among family heirs without updated sub-division revenue survey records may cause boundary discrepancies.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931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4. GPS Drift on Low-End Smartphones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Budget Android devices in rural areas can exhibit 15–30 meter GPS inaccuracy, occasionally requiring manual survey number confirmation.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13. Future Roadmap: Scaling to 38 Districts &amp;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1. Automated Sentinel-2 Satellite NDVI Tracking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Integrate ESA Copernicus Sentinel-2 10-meter multispectral satellite imagery to compute weekly Normalized Difference Vegetation Index (NDVI) time-series without requiring farmer photos.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2. WhatsApp &amp; Telegram Voice Note Bot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Deploy a conversational WhatsApp Business webhook where a farmer sends a voice note and receives an automated audio advisory in colloquial Tamil within 5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3. On-Device Edge AI (WebAssembly PWA)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Compile quantized vision &amp; language models (MobileNetV4 + Gemma-2B ONNX) to execute 100% offline inside the browser with zero internet connectivity.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931920"/>
            <a:ext cx="5212080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4E3B"/>
                </a:solidFill>
              </a:defRPr>
            </a:pPr>
            <a:r>
              <a:t>4. IoT LoRaWAN Soil Moisture Integration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Connect low-cost capacitive soil moisture probes and field rain gauges to trigger automated precision irrigation alerts.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FARMWISE AI • TASK 1: MULTI-MODEL AGENTIC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64E3B"/>
                </a:solidFill>
              </a:defRPr>
            </a:pPr>
            <a:r>
              <a:t>14. Conclusion: Transforming Agriculture with Trust &amp;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FarmwiseAI Campus Product Challenge | Team ID: FAI-TCE-Team06 | Confidential &amp; Proprietary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64E3B"/>
                </a:solidFill>
              </a:defRPr>
            </a:pPr>
            <a:r>
              <a:t>★ Hyper-Local &amp; Verified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FarmWise AI eliminates the peril of generic and hallucinated agricultural advice by grounding every turn in official cadastral revenue boundaries and TNAU agronomic guidelines.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72865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64E3B"/>
                </a:solidFill>
              </a:defRPr>
            </a:pPr>
            <a:r>
              <a:t>★ Engineered for Farmers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Voice-first Tamil interaction (Groq Whisper in 320ms), high-contrast touch design, and zero required app downloads ensure immediate adoption among smallholders.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64E3B"/>
                </a:solidFill>
              </a:defRPr>
            </a:pPr>
            <a:r>
              <a:t>★ Frugal &amp; Cost-Sustainable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At under $0.003 (~0.24 INR) per full pipeline run, the architecture is commercially viable for government rollouts, FPOs, and crop insurance providers across all 38 districts of Tamil Nadu.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43A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</a:defRPr>
            </a:pPr>
            <a:r>
              <a:t>நன்றி  •  THANK YOU</a:t>
            </a:r>
          </a:p>
          <a:p>
            <a:pPr>
              <a:spcAft>
                <a:spcPts val="2000"/>
              </a:spcAft>
              <a:defRPr sz="2000" b="1">
                <a:solidFill>
                  <a:srgbClr val="10B981"/>
                </a:solidFill>
              </a:defRPr>
            </a:pPr>
            <a:r>
              <a:t>FarmwiseAI Agentic Agriculture Intelligence Platform</a:t>
            </a:r>
          </a:p>
          <a:p>
            <a:pPr>
              <a:defRPr sz="1300">
                <a:solidFill>
                  <a:srgbClr val="D1FAE5"/>
                </a:solidFill>
              </a:defRPr>
            </a:pPr>
            <a:r>
              <a:t>Team ID: FAI-TCE-Team06   |   Task 1: Multi-Model, Multimodal &amp; Agentic AI System</a:t>
            </a:r>
            <a:br/>
            <a:r>
              <a:t>Open for Questions, Live Architecture Inspection &amp; Evaluator Defense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